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0231F"/>
                </a:solidFill>
                <a:latin typeface="Calibri"/>
              </a:defRPr>
            </a:pPr>
            <a:r>
              <a:rPr sz="1400" b="0" i="0" u="none" strike="noStrike">
                <a:solidFill>
                  <a:srgbClr val="10231F"/>
                </a:solidFill>
                <a:latin typeface="Calibri"/>
              </a:rPr>
              <a:t>AUC by customer segment (test set)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AUC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0231F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Farmer (n=871)</c:v>
                  </c:pt>
                  <c:pt idx="1">
                    <c:v>Gig rider (n=739)</c:v>
                  </c:pt>
                  <c:pt idx="2">
                    <c:v>Merchant (n=906)</c:v>
                  </c:pt>
                  <c:pt idx="3">
                    <c:v>Salaried (n=208)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0.834</c:v>
                </c:pt>
                <c:pt idx="1">
                  <c:v>0.804</c:v>
                </c:pt>
                <c:pt idx="2">
                  <c:v>0.798</c:v>
                </c:pt>
                <c:pt idx="3">
                  <c:v>0.777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200" u="none">
                  <a:solidFill>
                    <a:srgbClr val="10231F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0231F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9"/>
          <c:min val="0.7"/>
        </c:scaling>
        <c:delete val="0"/>
        <c:axPos val="b"/>
        <c:majorGridlines>
          <c:spPr>
            <a:ln w="9525" cap="flat">
              <a:solidFill>
                <a:srgbClr val="E3EFEC"/>
              </a:solidFill>
              <a:prstDash val="solid"/>
              <a:round/>
            </a:ln>
          </c:spPr>
        </c:majorGridlines>
        <c:numFmt formatCode="0.00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D7A73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0.05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line to remember: if the bureau has no record, we ask the customer for permission to look at the records they already have, and we explain every decision.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problem is structural, not a lack of good borrowers. The bureau cannot distinguish "no record" from "bad record", and the system treats both as risk.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feature answers a question a judge will ask: whose data, with what permission, why this score, what happens when data is missing, and what the customer does next.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left to right. Two branches leave the flow: a bureau hit goes to the standard LOS, and a refused consent reads nothing. Only the consent step needs the customer.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mocks are real HTTP endpoints in the same app: they enforce consent and can time out on purpose. To go live, a real Account Aggregator client replaces one adapter class.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Privacy by construction: the customer data that matters to the decision is used once, and what persists is the decision record, which is what a regulator would ask for.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waterfall is the real SHAP output for persona 1, rounded to whole points, and it adds up to the score the customer sees.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ledger page in the dashboard shows exactly these records for each application: consent events, every read attempted, and what we still hold.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AUC measures how well the model ranks risky applicants above safe ones. 0.5 is a coin flip. Be explicit that these are simulated outcomes.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asked for the fastest way to see every path: run personas 1, 9, 11 and 13 in that order. Persona 6 shows the consent refusal.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3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18872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Saksham Engine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1488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A3E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 credit for the credit-invisible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926080"/>
            <a:ext cx="9875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D6E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bureau has no record, Saksham asks the customer for consent on WhatsApp, reads only the data they agree to share, and returns an explainable score in seconds. A "not yet" becomes a plan, not a rejection.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31520" y="4754880"/>
            <a:ext cx="1874520" cy="914400"/>
          </a:xfrm>
          <a:prstGeom prst="roundRect">
            <a:avLst>
              <a:gd name="adj" fmla="val 12000"/>
            </a:avLst>
          </a:prstGeom>
          <a:solidFill>
            <a:srgbClr val="0B6B61"/>
          </a:solidFill>
          <a:ln w="12700">
            <a:solidFill>
              <a:srgbClr val="0B6B6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59536" y="4754880"/>
            <a:ext cx="16184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Bureau: NO_HIT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606040" y="5212080"/>
            <a:ext cx="384048" cy="0"/>
          </a:xfrm>
          <a:prstGeom prst="line">
            <a:avLst/>
          </a:prstGeom>
          <a:noFill/>
          <a:ln w="19050">
            <a:solidFill>
              <a:srgbClr val="A3E2D1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990088" y="4754880"/>
            <a:ext cx="1874520" cy="914400"/>
          </a:xfrm>
          <a:prstGeom prst="roundRect">
            <a:avLst>
              <a:gd name="adj" fmla="val 12000"/>
            </a:avLst>
          </a:prstGeom>
          <a:solidFill>
            <a:srgbClr val="0B6B61"/>
          </a:solidFill>
          <a:ln w="12700">
            <a:solidFill>
              <a:srgbClr val="0B6B6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118104" y="4754880"/>
            <a:ext cx="16184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consent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864608" y="5212080"/>
            <a:ext cx="384048" cy="0"/>
          </a:xfrm>
          <a:prstGeom prst="line">
            <a:avLst/>
          </a:prstGeom>
          <a:noFill/>
          <a:ln w="19050">
            <a:solidFill>
              <a:srgbClr val="A3E2D1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248656" y="4754880"/>
            <a:ext cx="1874520" cy="914400"/>
          </a:xfrm>
          <a:prstGeom prst="roundRect">
            <a:avLst>
              <a:gd name="adj" fmla="val 12000"/>
            </a:avLst>
          </a:prstGeom>
          <a:solidFill>
            <a:srgbClr val="0B6B61"/>
          </a:solidFill>
          <a:ln w="12700">
            <a:solidFill>
              <a:srgbClr val="0B6B6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376672" y="4754880"/>
            <a:ext cx="16184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sources, in parallel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123176" y="5212080"/>
            <a:ext cx="384048" cy="0"/>
          </a:xfrm>
          <a:prstGeom prst="line">
            <a:avLst/>
          </a:prstGeom>
          <a:noFill/>
          <a:ln w="19050">
            <a:solidFill>
              <a:srgbClr val="A3E2D1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507224" y="4754880"/>
            <a:ext cx="1874520" cy="914400"/>
          </a:xfrm>
          <a:prstGeom prst="roundRect">
            <a:avLst>
              <a:gd name="adj" fmla="val 12000"/>
            </a:avLst>
          </a:prstGeom>
          <a:solidFill>
            <a:srgbClr val="0B6B61"/>
          </a:solidFill>
          <a:ln w="12700">
            <a:solidFill>
              <a:srgbClr val="0B6B6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635240" y="4754880"/>
            <a:ext cx="16184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score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9381744" y="5212080"/>
            <a:ext cx="384048" cy="0"/>
          </a:xfrm>
          <a:prstGeom prst="line">
            <a:avLst/>
          </a:prstGeom>
          <a:noFill/>
          <a:ln w="19050">
            <a:solidFill>
              <a:srgbClr val="A3E2D1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9765792" y="4754880"/>
            <a:ext cx="1874520" cy="914400"/>
          </a:xfrm>
          <a:prstGeom prst="roundRect">
            <a:avLst>
              <a:gd name="adj" fmla="val 12000"/>
            </a:avLst>
          </a:prstGeom>
          <a:solidFill>
            <a:srgbClr val="0B6B61"/>
          </a:solidFill>
          <a:ln w="12700">
            <a:solidFill>
              <a:srgbClr val="0B6B6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893808" y="4754880"/>
            <a:ext cx="16184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· plan · review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731520" y="6080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A9CF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TVS Credit e.p.i.c Season 8  ·  Prototype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0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bureau record means good borrowers get turned away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15568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5D7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Gig workers, farmers and shopkeepers pay their way every month, but none of it reaches the bureau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28800"/>
            <a:ext cx="5760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0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credit bureau only knows credit that has already been used.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0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record comes back as NO_HIT, and today that is treated as high risk.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0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cash flow sits in UPI, bank, mandi and GST records. Nobody reads it.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0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auto-rejection is a lost two-wheeler, car or tractor sale at the dealer.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949440" y="1828800"/>
            <a:ext cx="4663440" cy="777240"/>
          </a:xfrm>
          <a:prstGeom prst="roundRect">
            <a:avLst>
              <a:gd name="adj" fmla="val 14118"/>
            </a:avLst>
          </a:prstGeom>
          <a:solidFill>
            <a:srgbClr val="F5FAF8"/>
          </a:solidFill>
          <a:ln w="12700">
            <a:solidFill>
              <a:srgbClr val="B9DDD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077456" y="1828800"/>
            <a:ext cx="44074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0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walks into the dealer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9281160" y="2606040"/>
            <a:ext cx="0" cy="365760"/>
          </a:xfrm>
          <a:prstGeom prst="line">
            <a:avLst/>
          </a:prstGeom>
          <a:noFill/>
          <a:ln w="19050">
            <a:solidFill>
              <a:srgbClr val="5D7A73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6949440" y="2971800"/>
            <a:ext cx="4663440" cy="777240"/>
          </a:xfrm>
          <a:prstGeom prst="roundRect">
            <a:avLst>
              <a:gd name="adj" fmla="val 14118"/>
            </a:avLst>
          </a:prstGeom>
          <a:solidFill>
            <a:srgbClr val="F5FAF8"/>
          </a:solidFill>
          <a:ln w="12700">
            <a:solidFill>
              <a:srgbClr val="B9DDD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077456" y="2971800"/>
            <a:ext cx="44074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0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Bureau check returns NO_HIT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281160" y="3749040"/>
            <a:ext cx="0" cy="365760"/>
          </a:xfrm>
          <a:prstGeom prst="line">
            <a:avLst/>
          </a:prstGeom>
          <a:noFill/>
          <a:ln w="19050">
            <a:solidFill>
              <a:srgbClr val="5D7A73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6949440" y="4114800"/>
            <a:ext cx="4663440" cy="777240"/>
          </a:xfrm>
          <a:prstGeom prst="roundRect">
            <a:avLst>
              <a:gd name="adj" fmla="val 14118"/>
            </a:avLst>
          </a:prstGeom>
          <a:solidFill>
            <a:srgbClr val="FDF1E4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077456" y="4114800"/>
            <a:ext cx="44074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Auto-rejected, or sent to a slow manual queue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5120640"/>
            <a:ext cx="361188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B9DDD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49808" y="5230368"/>
            <a:ext cx="320954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0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Gig rider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5D7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UPI-heavy income, irregular, no business records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31520" y="5413248"/>
            <a:ext cx="502920" cy="5029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31520" y="54132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343400" y="5120640"/>
            <a:ext cx="361188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B9DDD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544568" y="5230368"/>
            <a:ext cx="320954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0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5D7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Mandi settlements, sparse bank use, seasonal cash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526280" y="5413248"/>
            <a:ext cx="502920" cy="5029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526280" y="54132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138160" y="5120640"/>
            <a:ext cx="361188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B9DDD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339328" y="5230368"/>
            <a:ext cx="320954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0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Shopkeeper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5D7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plus UPI, files GST, has never borrowed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8321040" y="5413248"/>
            <a:ext cx="502920" cy="5029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321040" y="54132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D7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Saksham Engine  ·  2 / 10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0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Ask, read only what is allowed, score, and explain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15568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5D7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sits beside the bureau check and only runs when the bureau has nothing to say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84448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B9DDD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49808" y="1938528"/>
            <a:ext cx="3182112" cy="1792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10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Granular, revocable consent</a:t>
            </a:r>
            <a:endParaRPr lang="en-US" sz="17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5D7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switches on the customer's phone: bank, telecom, business. Withdraw any time and the stored features are purged.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749808" y="20116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15968" y="1828800"/>
            <a:ext cx="3584448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B9DDD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17136" y="1938528"/>
            <a:ext cx="3182112" cy="1792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10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alternative sources, in parallel</a:t>
            </a:r>
            <a:endParaRPr lang="en-US" sz="17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5D7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statement including UPI, telecom recharge history, GST returns or mandi receipts. Every read is consent-checked and timed.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4517136" y="20116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083296" y="1828800"/>
            <a:ext cx="3584448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B9DDD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84464" y="1938528"/>
            <a:ext cx="3182112" cy="1792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10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300–900 score</a:t>
            </a:r>
            <a:endParaRPr lang="en-US" sz="17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5D7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 codes and a SHAP waterfall that adds up exactly to the score the customer is shown.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8284464" y="20116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4069080"/>
            <a:ext cx="3584448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B9DDD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49808" y="4178808"/>
            <a:ext cx="3182112" cy="1792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10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Graceful degradation</a:t>
            </a:r>
            <a:endParaRPr lang="en-US" sz="17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5D7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slow or missing source lowers confidence and changes the reasons. It does not reject by default.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749808" y="42519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315968" y="4069080"/>
            <a:ext cx="3584448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B9DDD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17136" y="4178808"/>
            <a:ext cx="3182112" cy="1792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10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rejection becomes a plan</a:t>
            </a:r>
            <a:endParaRPr lang="en-US" sz="17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5D7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concrete steps in Hindi, Marathi or English, sent on WhatsApp, with a link to the full plan.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4517136" y="42519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083296" y="4069080"/>
            <a:ext cx="3584448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B9DDD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284464" y="4178808"/>
            <a:ext cx="3182112" cy="1792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10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Graduation ladder</a:t>
            </a:r>
            <a:endParaRPr lang="en-US" sz="17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5D7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On-time EMIs raise a behaviour score that unlocks higher limits and more products over time.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8284464" y="42519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D7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Saksham Engine  ·  3 / 10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0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WhatsApp tap decides, and every step is on record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15568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5D7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pipeline takes a fraction of a second. The customer's own tap is the slowest step.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874520"/>
            <a:ext cx="1371600" cy="1325880"/>
          </a:xfrm>
          <a:prstGeom prst="roundRect">
            <a:avLst>
              <a:gd name="adj" fmla="val 8276"/>
            </a:avLst>
          </a:prstGeom>
          <a:solidFill>
            <a:srgbClr val="F5FAF8"/>
          </a:solidFill>
          <a:ln w="12700">
            <a:solidFill>
              <a:srgbClr val="B9DDD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85216" y="1874520"/>
            <a:ext cx="111556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0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Dealer creates the application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121408" y="1874520"/>
            <a:ext cx="1371600" cy="1325880"/>
          </a:xfrm>
          <a:prstGeom prst="roundRect">
            <a:avLst>
              <a:gd name="adj" fmla="val 8276"/>
            </a:avLst>
          </a:prstGeom>
          <a:solidFill>
            <a:srgbClr val="F5FAF8"/>
          </a:solidFill>
          <a:ln w="12700">
            <a:solidFill>
              <a:srgbClr val="B9DDD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249424" y="1874520"/>
            <a:ext cx="111556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0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Bureau check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785616" y="1874520"/>
            <a:ext cx="1371600" cy="1325880"/>
          </a:xfrm>
          <a:prstGeom prst="diamond">
            <a:avLst/>
          </a:prstGeom>
          <a:solidFill>
            <a:srgbClr val="E3F5EF"/>
          </a:solidFill>
          <a:ln w="12700">
            <a:solidFill>
              <a:srgbClr val="B9DDD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059936" y="1874520"/>
            <a:ext cx="8229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0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Bureau hit?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49824" y="1874520"/>
            <a:ext cx="1371600" cy="1325880"/>
          </a:xfrm>
          <a:prstGeom prst="roundRect">
            <a:avLst>
              <a:gd name="adj" fmla="val 8276"/>
            </a:avLst>
          </a:prstGeom>
          <a:solidFill>
            <a:srgbClr val="F5FAF8"/>
          </a:solidFill>
          <a:ln w="12700">
            <a:solidFill>
              <a:srgbClr val="B9DDD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577840" y="1874520"/>
            <a:ext cx="111556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0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consent request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114032" y="1874520"/>
            <a:ext cx="1371600" cy="1325880"/>
          </a:xfrm>
          <a:prstGeom prst="diamond">
            <a:avLst/>
          </a:prstGeom>
          <a:solidFill>
            <a:srgbClr val="E3F5EF"/>
          </a:solidFill>
          <a:ln w="12700">
            <a:solidFill>
              <a:srgbClr val="B9DDD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88352" y="1874520"/>
            <a:ext cx="8229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0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 given?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778240" y="1874520"/>
            <a:ext cx="1371600" cy="1325880"/>
          </a:xfrm>
          <a:prstGeom prst="roundRect">
            <a:avLst>
              <a:gd name="adj" fmla="val 8276"/>
            </a:avLst>
          </a:prstGeom>
          <a:solidFill>
            <a:srgbClr val="F5FAF8"/>
          </a:solidFill>
          <a:ln w="12700">
            <a:solidFill>
              <a:srgbClr val="B9DDD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906256" y="1874520"/>
            <a:ext cx="111556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0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consented sources in parallel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0442448" y="1874520"/>
            <a:ext cx="1371600" cy="1325880"/>
          </a:xfrm>
          <a:prstGeom prst="roundRect">
            <a:avLst>
              <a:gd name="adj" fmla="val 8276"/>
            </a:avLst>
          </a:prstGeom>
          <a:solidFill>
            <a:srgbClr val="F5FAF8"/>
          </a:solidFill>
          <a:ln w="12700">
            <a:solidFill>
              <a:srgbClr val="B9DDD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570464" y="1874520"/>
            <a:ext cx="111556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0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→ model → score → reasons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1828800" y="2537460"/>
            <a:ext cx="292608" cy="0"/>
          </a:xfrm>
          <a:prstGeom prst="line">
            <a:avLst/>
          </a:prstGeom>
          <a:noFill/>
          <a:ln w="19050">
            <a:solidFill>
              <a:srgbClr val="5D7A73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3493008" y="2537460"/>
            <a:ext cx="292608" cy="0"/>
          </a:xfrm>
          <a:prstGeom prst="line">
            <a:avLst/>
          </a:prstGeom>
          <a:noFill/>
          <a:ln w="19050">
            <a:solidFill>
              <a:srgbClr val="5D7A73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5157216" y="2537460"/>
            <a:ext cx="292608" cy="0"/>
          </a:xfrm>
          <a:prstGeom prst="line">
            <a:avLst/>
          </a:prstGeom>
          <a:noFill/>
          <a:ln w="19050">
            <a:solidFill>
              <a:srgbClr val="5D7A73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6821424" y="2537460"/>
            <a:ext cx="292608" cy="0"/>
          </a:xfrm>
          <a:prstGeom prst="line">
            <a:avLst/>
          </a:prstGeom>
          <a:noFill/>
          <a:ln w="19050">
            <a:solidFill>
              <a:srgbClr val="5D7A73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8485632" y="2537460"/>
            <a:ext cx="292608" cy="0"/>
          </a:xfrm>
          <a:prstGeom prst="line">
            <a:avLst/>
          </a:prstGeom>
          <a:noFill/>
          <a:ln w="19050">
            <a:solidFill>
              <a:srgbClr val="5D7A73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10149840" y="2537460"/>
            <a:ext cx="292608" cy="0"/>
          </a:xfrm>
          <a:prstGeom prst="line">
            <a:avLst/>
          </a:prstGeom>
          <a:noFill/>
          <a:ln w="19050">
            <a:solidFill>
              <a:srgbClr val="5D7A73"/>
            </a:solidFill>
            <a:prstDash val="solid"/>
            <a:tailEnd type="triangle"/>
          </a:ln>
        </p:spPr>
      </p:sp>
      <p:sp>
        <p:nvSpPr>
          <p:cNvPr id="24" name="Text 22"/>
          <p:cNvSpPr txBox="1"/>
          <p:nvPr/>
        </p:nvSpPr>
        <p:spPr>
          <a:xfrm>
            <a:off x="5157216" y="2189988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6B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NO_HIT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8485632" y="2189988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6B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788920" y="3657600"/>
            <a:ext cx="3291840" cy="731520"/>
          </a:xfrm>
          <a:prstGeom prst="roundRect">
            <a:avLst>
              <a:gd name="adj" fmla="val 15000"/>
            </a:avLst>
          </a:prstGeom>
          <a:solidFill>
            <a:srgbClr val="F5FAF8"/>
          </a:solidFill>
          <a:ln w="12700">
            <a:solidFill>
              <a:srgbClr val="B9DDD3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2916936" y="3657600"/>
            <a:ext cx="30358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0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HIT: routed to the standard LOS. Saksham is not used.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471416" y="3200400"/>
            <a:ext cx="0" cy="457200"/>
          </a:xfrm>
          <a:prstGeom prst="line">
            <a:avLst/>
          </a:prstGeom>
          <a:noFill/>
          <a:ln w="19050">
            <a:solidFill>
              <a:srgbClr val="5D7A73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6400800" y="3657600"/>
            <a:ext cx="3108960" cy="731520"/>
          </a:xfrm>
          <a:prstGeom prst="roundRect">
            <a:avLst>
              <a:gd name="adj" fmla="val 15000"/>
            </a:avLst>
          </a:prstGeom>
          <a:solidFill>
            <a:srgbClr val="F5FAF8"/>
          </a:solidFill>
          <a:ln w="12700">
            <a:solidFill>
              <a:srgbClr val="B9DDD3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528816" y="3657600"/>
            <a:ext cx="28529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0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consent: nothing is read, and the application closes.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7799832" y="3200400"/>
            <a:ext cx="0" cy="457200"/>
          </a:xfrm>
          <a:prstGeom prst="line">
            <a:avLst/>
          </a:prstGeom>
          <a:noFill/>
          <a:ln w="19050">
            <a:solidFill>
              <a:srgbClr val="5D7A73"/>
            </a:solidFill>
            <a:prstDash val="solid"/>
            <a:tailEnd type="triangle"/>
          </a:ln>
        </p:spPr>
      </p:sp>
      <p:sp>
        <p:nvSpPr>
          <p:cNvPr id="32" name="Text 30"/>
          <p:cNvSpPr txBox="1"/>
          <p:nvPr/>
        </p:nvSpPr>
        <p:spPr>
          <a:xfrm>
            <a:off x="548640" y="47548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0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Result, set by the score bands in policy.yaml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548640" y="5166360"/>
            <a:ext cx="3611880" cy="1051560"/>
          </a:xfrm>
          <a:prstGeom prst="roundRect">
            <a:avLst>
              <a:gd name="adj" fmla="val 10435"/>
            </a:avLst>
          </a:prstGeom>
          <a:solidFill>
            <a:srgbClr val="0B6B61"/>
          </a:solidFill>
          <a:ln w="12700">
            <a:solidFill>
              <a:srgbClr val="0B6B61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31520" y="5212080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· score 650 or more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account opened, LOS handoff, e-NACH mandate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4343400" y="5166360"/>
            <a:ext cx="3611880" cy="1051560"/>
          </a:xfrm>
          <a:prstGeom prst="roundRect">
            <a:avLst>
              <a:gd name="adj" fmla="val 10435"/>
            </a:avLst>
          </a:prstGeom>
          <a:solidFill>
            <a:srgbClr val="E3F5EF"/>
          </a:solidFill>
          <a:ln w="12700">
            <a:solidFill>
              <a:srgbClr val="E3F5EF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4526280" y="5212080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0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· 600 to 649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0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Smaller ticket offered (70%), or add a co-applicant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8138160" y="5166360"/>
            <a:ext cx="3611880" cy="1051560"/>
          </a:xfrm>
          <a:prstGeom prst="roundRect">
            <a:avLst>
              <a:gd name="adj" fmla="val 10435"/>
            </a:avLst>
          </a:prstGeom>
          <a:solidFill>
            <a:srgbClr val="FDF1E4"/>
          </a:solidFill>
          <a:ln w="12700">
            <a:solidFill>
              <a:srgbClr val="FDF1E4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8321040" y="5212080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0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· below 600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0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steps in the customer's language, sent on WhatsApp</a:t>
            </a:r>
            <a:endParaRPr lang="en-US" sz="1500" dirty="0"/>
          </a:p>
        </p:txBody>
      </p:sp>
      <p:sp>
        <p:nvSpPr>
          <p:cNvPr id="39" name="Text 37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D7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Saksham Engine  ·  4 / 10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0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Architecture: one process, with seams for live vendors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15568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5D7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Ports and adapters keep the core independent of vendors. Mocks run as routes in the same app.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651760" cy="731520"/>
          </a:xfrm>
          <a:prstGeom prst="roundRect">
            <a:avLst>
              <a:gd name="adj" fmla="val 15000"/>
            </a:avLst>
          </a:prstGeom>
          <a:solidFill>
            <a:srgbClr val="F5FAF8"/>
          </a:solidFill>
          <a:ln w="12700">
            <a:solidFill>
              <a:srgbClr val="B9DDD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76656" y="1737360"/>
            <a:ext cx="23957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0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Dealer console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0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dashboard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874520" y="2468880"/>
            <a:ext cx="0" cy="274320"/>
          </a:xfrm>
          <a:prstGeom prst="line">
            <a:avLst/>
          </a:prstGeom>
          <a:noFill/>
          <a:ln w="19050">
            <a:solidFill>
              <a:srgbClr val="5D7A73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3383280" y="1737360"/>
            <a:ext cx="2834640" cy="731520"/>
          </a:xfrm>
          <a:prstGeom prst="roundRect">
            <a:avLst>
              <a:gd name="adj" fmla="val 15000"/>
            </a:avLst>
          </a:prstGeom>
          <a:solidFill>
            <a:srgbClr val="F5FAF8"/>
          </a:solidFill>
          <a:ln w="12700">
            <a:solidFill>
              <a:srgbClr val="B9DDD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11296" y="1737360"/>
            <a:ext cx="25786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0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phone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0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 and plan pages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800600" y="2468880"/>
            <a:ext cx="0" cy="274320"/>
          </a:xfrm>
          <a:prstGeom prst="line">
            <a:avLst/>
          </a:prstGeom>
          <a:noFill/>
          <a:ln w="19050">
            <a:solidFill>
              <a:srgbClr val="5D7A73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400800" y="1737360"/>
            <a:ext cx="2560320" cy="731520"/>
          </a:xfrm>
          <a:prstGeom prst="roundRect">
            <a:avLst>
              <a:gd name="adj" fmla="val 15000"/>
            </a:avLst>
          </a:prstGeom>
          <a:solidFill>
            <a:srgbClr val="E3F5EF"/>
          </a:solidFill>
          <a:ln w="12700">
            <a:solidFill>
              <a:srgbClr val="0B6B6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28816" y="1737360"/>
            <a:ext cx="23042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0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Cloud API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0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· Meta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680960" y="2468880"/>
            <a:ext cx="0" cy="274320"/>
          </a:xfrm>
          <a:prstGeom prst="line">
            <a:avLst/>
          </a:prstGeom>
          <a:noFill/>
          <a:ln w="19050">
            <a:solidFill>
              <a:srgbClr val="5D7A73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9235440" y="1737360"/>
            <a:ext cx="2468880" cy="731520"/>
          </a:xfrm>
          <a:prstGeom prst="roundRect">
            <a:avLst>
              <a:gd name="adj" fmla="val 15000"/>
            </a:avLst>
          </a:prstGeom>
          <a:solidFill>
            <a:srgbClr val="E3F5EF"/>
          </a:solidFill>
          <a:ln w="12700">
            <a:solidFill>
              <a:srgbClr val="0B6B6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363456" y="1737360"/>
            <a:ext cx="22128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0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(optional)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0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· guarded LLM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469880" y="2468880"/>
            <a:ext cx="0" cy="274320"/>
          </a:xfrm>
          <a:prstGeom prst="line">
            <a:avLst/>
          </a:prstGeom>
          <a:noFill/>
          <a:ln w="19050">
            <a:solidFill>
              <a:srgbClr val="5D7A73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48640" y="2743200"/>
            <a:ext cx="11155680" cy="1554480"/>
          </a:xfrm>
          <a:prstGeom prst="roundRect">
            <a:avLst>
              <a:gd name="adj" fmla="val 7059"/>
            </a:avLst>
          </a:prstGeom>
          <a:solidFill>
            <a:srgbClr val="F5FAF8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1520" y="28072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B6B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 ·  single process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31520" y="3127248"/>
            <a:ext cx="1417320" cy="1024128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59536" y="3127248"/>
            <a:ext cx="116128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0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and dashboard host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286000" y="3127248"/>
            <a:ext cx="1417320" cy="1024128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2414016" y="3127248"/>
            <a:ext cx="116128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0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 and state machine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840480" y="3127248"/>
            <a:ext cx="1417320" cy="1024128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968496" y="3127248"/>
            <a:ext cx="116128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0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pipeline (one code path)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394960" y="3127248"/>
            <a:ext cx="1417320" cy="1024128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522976" y="3127248"/>
            <a:ext cx="116128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0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 → Platt → scorecard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949440" y="3127248"/>
            <a:ext cx="1417320" cy="1024128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077456" y="3127248"/>
            <a:ext cx="116128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0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→ reason codes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503920" y="3127248"/>
            <a:ext cx="1417320" cy="1024128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631936" y="3127248"/>
            <a:ext cx="116128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0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Advisory with guardrails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0058400" y="3127248"/>
            <a:ext cx="1417320" cy="1024128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10186416" y="3127248"/>
            <a:ext cx="116128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0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 verifier and ledger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126480" y="4297680"/>
            <a:ext cx="0" cy="320040"/>
          </a:xfrm>
          <a:prstGeom prst="line">
            <a:avLst/>
          </a:prstGeom>
          <a:noFill/>
          <a:ln w="19050">
            <a:solidFill>
              <a:srgbClr val="5D7A73"/>
            </a:solidFill>
            <a:prstDash val="solid"/>
            <a:tailEnd type="triangle"/>
          </a:ln>
        </p:spPr>
      </p:sp>
      <p:sp>
        <p:nvSpPr>
          <p:cNvPr id="33" name="Text 31"/>
          <p:cNvSpPr txBox="1"/>
          <p:nvPr/>
        </p:nvSpPr>
        <p:spPr>
          <a:xfrm>
            <a:off x="548640" y="4343400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D7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Ports and adapters: the core talks only to these, so swapping one class goes live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48640" y="4663440"/>
            <a:ext cx="169164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2700">
            <a:solidFill>
              <a:srgbClr val="B9DDD3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76656" y="4663440"/>
            <a:ext cx="14356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0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Bureau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0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/mock/bureau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2423160" y="4663440"/>
            <a:ext cx="169164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2700">
            <a:solidFill>
              <a:srgbClr val="B9DDD3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2551176" y="4663440"/>
            <a:ext cx="14356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0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Aggregator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0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/mock/aa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4297680" y="4663440"/>
            <a:ext cx="169164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2700">
            <a:solidFill>
              <a:srgbClr val="B9DDD3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4425696" y="4663440"/>
            <a:ext cx="14356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0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Telecom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0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/mock/telecom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6172200" y="4663440"/>
            <a:ext cx="169164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2700">
            <a:solidFill>
              <a:srgbClr val="B9DDD3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300216" y="4663440"/>
            <a:ext cx="14356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0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GST and mandi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0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/mock/business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8046720" y="4663440"/>
            <a:ext cx="169164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2700">
            <a:solidFill>
              <a:srgbClr val="B9DDD3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8174736" y="4663440"/>
            <a:ext cx="14356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0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and LMS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0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in-process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9921240" y="4663440"/>
            <a:ext cx="169164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2700">
            <a:solidFill>
              <a:srgbClr val="B9DDD3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10049256" y="4663440"/>
            <a:ext cx="14356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0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Messaging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0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or outbox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548640" y="5669280"/>
            <a:ext cx="11155680" cy="548640"/>
          </a:xfrm>
          <a:prstGeom prst="rect">
            <a:avLst/>
          </a:prstGeom>
          <a:solidFill>
            <a:srgbClr val="0B6B61"/>
          </a:solidFill>
          <a:ln w="12700">
            <a:solidFill>
              <a:srgbClr val="0B6B61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676656" y="5669280"/>
            <a:ext cx="108996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(WAL):  applications · consent sessions and artifacts · consent log · data_access_log · audit_records · timeline_events · messages · loans</a:t>
            </a:r>
            <a:endParaRPr lang="en-US" sz="1300" dirty="0"/>
          </a:p>
        </p:txBody>
      </p:sp>
      <p:sp>
        <p:nvSpPr>
          <p:cNvPr id="48" name="Text 46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D7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Saksham Engine  ·  5 / 10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0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flow: what enters, what is kept, what is dropped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15568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5D7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payloads are used once to build features. Only the features and the audit trail are kept.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373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B6B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SOURCES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2377440" cy="2011680"/>
          </a:xfrm>
          <a:prstGeom prst="roundRect">
            <a:avLst>
              <a:gd name="adj" fmla="val 5455"/>
            </a:avLst>
          </a:prstGeom>
          <a:solidFill>
            <a:srgbClr val="F5FAF8"/>
          </a:solidFill>
          <a:ln w="12700">
            <a:solidFill>
              <a:srgbClr val="B9DDD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76656" y="2057400"/>
            <a:ext cx="212140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0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statement: 180 days of balances and transactions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0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Telecom: recharge history and SIM tenure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0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GST returns, or mandi receipts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926080" y="3063240"/>
            <a:ext cx="457200" cy="0"/>
          </a:xfrm>
          <a:prstGeom prst="line">
            <a:avLst/>
          </a:prstGeom>
          <a:noFill/>
          <a:ln w="19050">
            <a:solidFill>
              <a:srgbClr val="5D7A73"/>
            </a:solidFill>
            <a:prstDash val="solid"/>
            <a:tailEnd type="triangle"/>
          </a:ln>
        </p:spPr>
      </p:sp>
      <p:sp>
        <p:nvSpPr>
          <p:cNvPr id="8" name="Text 6"/>
          <p:cNvSpPr txBox="1"/>
          <p:nvPr/>
        </p:nvSpPr>
        <p:spPr>
          <a:xfrm>
            <a:off x="3383280" y="17373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B6B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CONSENT GATE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83280" y="2057400"/>
            <a:ext cx="2377440" cy="2011680"/>
          </a:xfrm>
          <a:prstGeom prst="roundRect">
            <a:avLst>
              <a:gd name="adj" fmla="val 5455"/>
            </a:avLst>
          </a:prstGeom>
          <a:solidFill>
            <a:srgbClr val="F5FAF8"/>
          </a:solidFill>
          <a:ln w="12700">
            <a:solidFill>
              <a:srgbClr val="B9DDD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511296" y="2057400"/>
            <a:ext cx="212140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0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checks on every read: token present, record exists, not revoked, not expired, signature valid, scope covers the source, issued for this customer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760720" y="3063240"/>
            <a:ext cx="457200" cy="0"/>
          </a:xfrm>
          <a:prstGeom prst="line">
            <a:avLst/>
          </a:prstGeom>
          <a:noFill/>
          <a:ln w="19050">
            <a:solidFill>
              <a:srgbClr val="5D7A73"/>
            </a:solidFill>
            <a:prstDash val="solid"/>
            <a:tailEnd type="triangle"/>
          </a:ln>
        </p:spPr>
      </p:sp>
      <p:sp>
        <p:nvSpPr>
          <p:cNvPr id="12" name="Text 10"/>
          <p:cNvSpPr txBox="1"/>
          <p:nvPr/>
        </p:nvSpPr>
        <p:spPr>
          <a:xfrm>
            <a:off x="6217920" y="17373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B6B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FEATURES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17920" y="2057400"/>
            <a:ext cx="2377440" cy="2011680"/>
          </a:xfrm>
          <a:prstGeom prst="roundRect">
            <a:avLst>
              <a:gd name="adj" fmla="val 5455"/>
            </a:avLst>
          </a:prstGeom>
          <a:solidFill>
            <a:srgbClr val="F5FAF8"/>
          </a:solidFill>
          <a:ln w="12700">
            <a:solidFill>
              <a:srgbClr val="B9DDD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45936" y="2057400"/>
            <a:ext cx="212140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0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 numbers per applicant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0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missing source stays blank (NaN), never guessed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0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function for training and live scoring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595360" y="3063240"/>
            <a:ext cx="457200" cy="0"/>
          </a:xfrm>
          <a:prstGeom prst="line">
            <a:avLst/>
          </a:prstGeom>
          <a:noFill/>
          <a:ln w="19050">
            <a:solidFill>
              <a:srgbClr val="5D7A73"/>
            </a:solidFill>
            <a:prstDash val="solid"/>
            <a:tailEnd type="triangle"/>
          </a:ln>
        </p:spPr>
      </p:sp>
      <p:sp>
        <p:nvSpPr>
          <p:cNvPr id="16" name="Text 14"/>
          <p:cNvSpPr txBox="1"/>
          <p:nvPr/>
        </p:nvSpPr>
        <p:spPr>
          <a:xfrm>
            <a:off x="9052560" y="17373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B6B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MODEL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052560" y="2057400"/>
            <a:ext cx="2377440" cy="2011680"/>
          </a:xfrm>
          <a:prstGeom prst="roundRect">
            <a:avLst>
              <a:gd name="adj" fmla="val 5455"/>
            </a:avLst>
          </a:prstGeom>
          <a:solidFill>
            <a:srgbClr val="F5FAF8"/>
          </a:solidFill>
          <a:ln w="12700">
            <a:solidFill>
              <a:srgbClr val="B9DDD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180576" y="2057400"/>
            <a:ext cx="212140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0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 with monotone constraints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0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Calibrated probability of default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0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300–900 with reason codes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10241280" y="4069080"/>
            <a:ext cx="0" cy="457200"/>
          </a:xfrm>
          <a:prstGeom prst="line">
            <a:avLst/>
          </a:prstGeom>
          <a:noFill/>
          <a:ln w="19050">
            <a:solidFill>
              <a:srgbClr val="5D7A73"/>
            </a:solidFill>
            <a:prstDash val="solid"/>
            <a:tailEnd type="triangle"/>
          </a:ln>
        </p:spPr>
      </p:sp>
      <p:sp>
        <p:nvSpPr>
          <p:cNvPr id="20" name="Text 18"/>
          <p:cNvSpPr txBox="1"/>
          <p:nvPr/>
        </p:nvSpPr>
        <p:spPr>
          <a:xfrm>
            <a:off x="10332720" y="41148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D7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to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4572000"/>
            <a:ext cx="3566160" cy="1554480"/>
          </a:xfrm>
          <a:prstGeom prst="roundRect">
            <a:avLst>
              <a:gd name="adj" fmla="val 7059"/>
            </a:avLst>
          </a:prstGeom>
          <a:solidFill>
            <a:srgbClr val="E3F5E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49808" y="4681728"/>
            <a:ext cx="3163824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B6B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KEPT PERMANENTLY · audit record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5D7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Score, PD, SHAP drivers, model and policy version, feature hash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297680" y="4572000"/>
            <a:ext cx="356616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B9DDD3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498848" y="4681728"/>
            <a:ext cx="3163824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B6B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KEPT UNTIL REVOKED · features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5D7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feature vector. Revoking consent deletes it and blocks further reads.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8046720" y="4572000"/>
            <a:ext cx="3566160" cy="1554480"/>
          </a:xfrm>
          <a:prstGeom prst="roundRect">
            <a:avLst>
              <a:gd name="adj" fmla="val 7059"/>
            </a:avLst>
          </a:prstGeom>
          <a:solidFill>
            <a:srgbClr val="FDF1E4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247888" y="4681728"/>
            <a:ext cx="3163824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STORED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5D7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bank, telecom and GST payloads, discarded after extraction. PAN and Aadhaar kept only as keyed tokens.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D7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Saksham Engine  ·  6 / 10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0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score is made: model, calibration, scale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15568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5D7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stage is a plain, testable step. Nothing in the chain is hard-coded.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783080"/>
            <a:ext cx="1645920" cy="1234440"/>
          </a:xfrm>
          <a:prstGeom prst="roundRect">
            <a:avLst>
              <a:gd name="adj" fmla="val 8889"/>
            </a:avLst>
          </a:prstGeom>
          <a:solidFill>
            <a:srgbClr val="F5FAF8"/>
          </a:solidFill>
          <a:ln w="12700">
            <a:solidFill>
              <a:srgbClr val="B9DDD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85216" y="1783080"/>
            <a:ext cx="138988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0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 features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0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bank, telecom, business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103120" y="2395728"/>
            <a:ext cx="274320" cy="0"/>
          </a:xfrm>
          <a:prstGeom prst="line">
            <a:avLst/>
          </a:prstGeom>
          <a:noFill/>
          <a:ln w="19050">
            <a:solidFill>
              <a:srgbClr val="5D7A73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377440" y="1783080"/>
            <a:ext cx="1645920" cy="1234440"/>
          </a:xfrm>
          <a:prstGeom prst="roundRect">
            <a:avLst>
              <a:gd name="adj" fmla="val 8889"/>
            </a:avLst>
          </a:prstGeom>
          <a:solidFill>
            <a:srgbClr val="F5FAF8"/>
          </a:solidFill>
          <a:ln w="12700">
            <a:solidFill>
              <a:srgbClr val="B9DDD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505456" y="1783080"/>
            <a:ext cx="138988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0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0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 trees, monotone constraints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023360" y="2395728"/>
            <a:ext cx="274320" cy="0"/>
          </a:xfrm>
          <a:prstGeom prst="line">
            <a:avLst/>
          </a:prstGeom>
          <a:noFill/>
          <a:ln w="19050">
            <a:solidFill>
              <a:srgbClr val="5D7A73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297680" y="1783080"/>
            <a:ext cx="1645920" cy="1234440"/>
          </a:xfrm>
          <a:prstGeom prst="roundRect">
            <a:avLst>
              <a:gd name="adj" fmla="val 8889"/>
            </a:avLst>
          </a:prstGeom>
          <a:solidFill>
            <a:srgbClr val="F5FAF8"/>
          </a:solidFill>
          <a:ln w="12700">
            <a:solidFill>
              <a:srgbClr val="B9DDD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425696" y="1783080"/>
            <a:ext cx="138988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0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Platt scaling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0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fitted on validation data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943600" y="2395728"/>
            <a:ext cx="274320" cy="0"/>
          </a:xfrm>
          <a:prstGeom prst="line">
            <a:avLst/>
          </a:prstGeom>
          <a:noFill/>
          <a:ln w="19050">
            <a:solidFill>
              <a:srgbClr val="5D7A73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217920" y="1783080"/>
            <a:ext cx="1645920" cy="1234440"/>
          </a:xfrm>
          <a:prstGeom prst="roundRect">
            <a:avLst>
              <a:gd name="adj" fmla="val 8889"/>
            </a:avLst>
          </a:prstGeom>
          <a:solidFill>
            <a:srgbClr val="F5FAF8"/>
          </a:solidFill>
          <a:ln w="12700">
            <a:solidFill>
              <a:srgbClr val="B9DDD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45936" y="1783080"/>
            <a:ext cx="138988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0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Calibrated PD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0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of default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863840" y="2395728"/>
            <a:ext cx="274320" cy="0"/>
          </a:xfrm>
          <a:prstGeom prst="line">
            <a:avLst/>
          </a:prstGeom>
          <a:noFill/>
          <a:ln w="19050">
            <a:solidFill>
              <a:srgbClr val="5D7A73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8138160" y="1783080"/>
            <a:ext cx="1645920" cy="1234440"/>
          </a:xfrm>
          <a:prstGeom prst="roundRect">
            <a:avLst>
              <a:gd name="adj" fmla="val 8889"/>
            </a:avLst>
          </a:prstGeom>
          <a:solidFill>
            <a:srgbClr val="F5FAF8"/>
          </a:solidFill>
          <a:ln w="12700">
            <a:solidFill>
              <a:srgbClr val="B9DDD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66176" y="1783080"/>
            <a:ext cx="138988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0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Scorecard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0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650 ↔ 7% PD, PDO 60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784080" y="2395728"/>
            <a:ext cx="274320" cy="0"/>
          </a:xfrm>
          <a:prstGeom prst="line">
            <a:avLst/>
          </a:prstGeom>
          <a:noFill/>
          <a:ln w="19050">
            <a:solidFill>
              <a:srgbClr val="5D7A73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10058400" y="1783080"/>
            <a:ext cx="1645920" cy="1234440"/>
          </a:xfrm>
          <a:prstGeom prst="roundRect">
            <a:avLst>
              <a:gd name="adj" fmla="val 8889"/>
            </a:avLst>
          </a:prstGeom>
          <a:solidFill>
            <a:srgbClr val="0B6B61"/>
          </a:solidFill>
          <a:ln w="12700">
            <a:solidFill>
              <a:srgbClr val="0B6B6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0186416" y="1783080"/>
            <a:ext cx="138988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300–900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reason codes and SHAP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3429000"/>
            <a:ext cx="265176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B9DDD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77240" y="352044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B6B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0.813</a:t>
            </a:r>
            <a:endParaRPr lang="en-US" sz="3200" dirty="0"/>
          </a:p>
        </p:txBody>
      </p:sp>
      <p:sp>
        <p:nvSpPr>
          <p:cNvPr id="23" name="Text 21"/>
          <p:cNvSpPr txBox="1"/>
          <p:nvPr/>
        </p:nvSpPr>
        <p:spPr>
          <a:xfrm>
            <a:off x="777240" y="41148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D7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on held-out test data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383280" y="3429000"/>
            <a:ext cx="265176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B9DDD3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611880" y="352044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B6B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0.49</a:t>
            </a:r>
            <a:endParaRPr lang="en-US" sz="3200" dirty="0"/>
          </a:p>
        </p:txBody>
      </p:sp>
      <p:sp>
        <p:nvSpPr>
          <p:cNvPr id="26" name="Text 24"/>
          <p:cNvSpPr txBox="1"/>
          <p:nvPr/>
        </p:nvSpPr>
        <p:spPr>
          <a:xfrm>
            <a:off x="3611880" y="41148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D7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KS: separation of good and bad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217920" y="3429000"/>
            <a:ext cx="265176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B9DDD3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446520" y="352044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B6B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60.6%</a:t>
            </a:r>
            <a:endParaRPr lang="en-US" sz="3200" dirty="0"/>
          </a:p>
        </p:txBody>
      </p:sp>
      <p:sp>
        <p:nvSpPr>
          <p:cNvPr id="29" name="Text 27"/>
          <p:cNvSpPr txBox="1"/>
          <p:nvPr/>
        </p:nvSpPr>
        <p:spPr>
          <a:xfrm>
            <a:off x="6446520" y="41148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D7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at the 650 cutoff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9052560" y="3429000"/>
            <a:ext cx="265176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B9DDD3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9281160" y="352044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B6B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7%</a:t>
            </a:r>
            <a:endParaRPr lang="en-US" sz="3200" dirty="0"/>
          </a:p>
        </p:txBody>
      </p:sp>
      <p:sp>
        <p:nvSpPr>
          <p:cNvPr id="32" name="Text 30"/>
          <p:cNvSpPr txBox="1"/>
          <p:nvPr/>
        </p:nvSpPr>
        <p:spPr>
          <a:xfrm>
            <a:off x="9281160" y="41148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D7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probability at the 650 anchor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548640" y="4892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0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Ramesh, full data. Score 766, from an average applicant of 677 (points)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548640" y="5303520"/>
            <a:ext cx="1143000" cy="868680"/>
          </a:xfrm>
          <a:prstGeom prst="roundRect">
            <a:avLst>
              <a:gd name="adj" fmla="val 10526"/>
            </a:avLst>
          </a:prstGeom>
          <a:solidFill>
            <a:srgbClr val="0B6B61"/>
          </a:solidFill>
          <a:ln w="12700">
            <a:solidFill>
              <a:srgbClr val="0B6B61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03504" y="5303520"/>
            <a:ext cx="10332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677</a:t>
            </a:r>
            <a:endParaRPr lang="en-US" sz="16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1792224" y="5303520"/>
            <a:ext cx="1143000" cy="868680"/>
          </a:xfrm>
          <a:prstGeom prst="roundRect">
            <a:avLst>
              <a:gd name="adj" fmla="val 10526"/>
            </a:avLst>
          </a:prstGeom>
          <a:solidFill>
            <a:srgbClr val="E3F5EF"/>
          </a:solidFill>
          <a:ln w="12700">
            <a:solidFill>
              <a:srgbClr val="E3F5EF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1847088" y="5303520"/>
            <a:ext cx="10332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+32</a:t>
            </a:r>
            <a:endParaRPr lang="en-US" sz="16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0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Savings buffer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3035808" y="5303520"/>
            <a:ext cx="1143000" cy="868680"/>
          </a:xfrm>
          <a:prstGeom prst="roundRect">
            <a:avLst>
              <a:gd name="adj" fmla="val 10526"/>
            </a:avLst>
          </a:prstGeom>
          <a:solidFill>
            <a:srgbClr val="E3F5EF"/>
          </a:solidFill>
          <a:ln w="12700">
            <a:solidFill>
              <a:srgbClr val="E3F5EF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3090672" y="5303520"/>
            <a:ext cx="10332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+21</a:t>
            </a:r>
            <a:endParaRPr lang="en-US" sz="16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0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UPI payers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4279392" y="5303520"/>
            <a:ext cx="1143000" cy="868680"/>
          </a:xfrm>
          <a:prstGeom prst="roundRect">
            <a:avLst>
              <a:gd name="adj" fmla="val 10526"/>
            </a:avLst>
          </a:prstGeom>
          <a:solidFill>
            <a:srgbClr val="E3F5EF"/>
          </a:solidFill>
          <a:ln w="12700">
            <a:solidFill>
              <a:srgbClr val="E3F5EF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4334256" y="5303520"/>
            <a:ext cx="10332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+19</a:t>
            </a:r>
            <a:endParaRPr lang="en-US" sz="16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0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 tenure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5522976" y="5303520"/>
            <a:ext cx="1143000" cy="868680"/>
          </a:xfrm>
          <a:prstGeom prst="roundRect">
            <a:avLst>
              <a:gd name="adj" fmla="val 10526"/>
            </a:avLst>
          </a:prstGeom>
          <a:solidFill>
            <a:srgbClr val="E3F5EF"/>
          </a:solidFill>
          <a:ln w="12700">
            <a:solidFill>
              <a:srgbClr val="E3F5EF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5577840" y="5303520"/>
            <a:ext cx="10332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+16</a:t>
            </a:r>
            <a:endParaRPr lang="en-US" sz="16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0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GST on time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6766560" y="5303520"/>
            <a:ext cx="1143000" cy="868680"/>
          </a:xfrm>
          <a:prstGeom prst="roundRect">
            <a:avLst>
              <a:gd name="adj" fmla="val 10526"/>
            </a:avLst>
          </a:prstGeom>
          <a:solidFill>
            <a:srgbClr val="FDF1E4"/>
          </a:solidFill>
          <a:ln w="12700">
            <a:solidFill>
              <a:srgbClr val="FDF1E4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6821424" y="5303520"/>
            <a:ext cx="10332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−12</a:t>
            </a:r>
            <a:endParaRPr lang="en-US" sz="16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0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Irregular recharges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8010144" y="5303520"/>
            <a:ext cx="1143000" cy="868680"/>
          </a:xfrm>
          <a:prstGeom prst="roundRect">
            <a:avLst>
              <a:gd name="adj" fmla="val 10526"/>
            </a:avLst>
          </a:prstGeom>
          <a:solidFill>
            <a:srgbClr val="FDF1E4"/>
          </a:solidFill>
          <a:ln w="12700">
            <a:solidFill>
              <a:srgbClr val="FDF1E4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8065008" y="5303520"/>
            <a:ext cx="10332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−7</a:t>
            </a:r>
            <a:endParaRPr lang="en-US" sz="16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0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Uneven income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9253728" y="5303520"/>
            <a:ext cx="1143000" cy="868680"/>
          </a:xfrm>
          <a:prstGeom prst="roundRect">
            <a:avLst>
              <a:gd name="adj" fmla="val 10526"/>
            </a:avLst>
          </a:prstGeom>
          <a:solidFill>
            <a:srgbClr val="E3F5EF"/>
          </a:solidFill>
          <a:ln w="12700">
            <a:solidFill>
              <a:srgbClr val="E3F5EF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9308592" y="5303520"/>
            <a:ext cx="10332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+20</a:t>
            </a:r>
            <a:endParaRPr lang="en-US" sz="16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0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factors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10497312" y="5303520"/>
            <a:ext cx="1143000" cy="868680"/>
          </a:xfrm>
          <a:prstGeom prst="roundRect">
            <a:avLst>
              <a:gd name="adj" fmla="val 10526"/>
            </a:avLst>
          </a:prstGeom>
          <a:solidFill>
            <a:srgbClr val="0B6B61"/>
          </a:solidFill>
          <a:ln w="12700">
            <a:solidFill>
              <a:srgbClr val="0B6B61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10552176" y="5303520"/>
            <a:ext cx="10332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766</a:t>
            </a:r>
            <a:endParaRPr lang="en-US" sz="16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score</a:t>
            </a:r>
            <a:endParaRPr lang="en-US" sz="1600" dirty="0"/>
          </a:p>
        </p:txBody>
      </p:sp>
      <p:sp>
        <p:nvSpPr>
          <p:cNvPr id="52" name="Text 50"/>
          <p:cNvSpPr txBox="1"/>
          <p:nvPr/>
        </p:nvSpPr>
        <p:spPr>
          <a:xfrm>
            <a:off x="548640" y="6263640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D7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 synthetic data (18,158 applicants after the sufficiency gate). A real rollout starts in shadow mode on repayment outcomes.</a:t>
            </a:r>
            <a:endParaRPr lang="en-US" sz="1100" dirty="0"/>
          </a:p>
        </p:txBody>
      </p:sp>
      <p:sp>
        <p:nvSpPr>
          <p:cNvPr id="53" name="Text 51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D7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Saksham Engine  ·  7 / 10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0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Annex A · Consent lifecycle and data rights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15568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5D7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state is recorded. Every exit from the happy path is a defined outcome.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554480" cy="868680"/>
          </a:xfrm>
          <a:prstGeom prst="roundRect">
            <a:avLst>
              <a:gd name="adj" fmla="val 12632"/>
            </a:avLst>
          </a:prstGeom>
          <a:solidFill>
            <a:srgbClr val="F5FAF8"/>
          </a:solidFill>
          <a:ln w="12700">
            <a:solidFill>
              <a:srgbClr val="B9DDD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76656" y="1828800"/>
            <a:ext cx="12984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103120" y="2258568"/>
            <a:ext cx="228600" cy="0"/>
          </a:xfrm>
          <a:prstGeom prst="line">
            <a:avLst/>
          </a:prstGeom>
          <a:noFill/>
          <a:ln w="19050">
            <a:solidFill>
              <a:srgbClr val="5D7A73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331720" y="1828800"/>
            <a:ext cx="1554480" cy="868680"/>
          </a:xfrm>
          <a:prstGeom prst="roundRect">
            <a:avLst>
              <a:gd name="adj" fmla="val 12632"/>
            </a:avLst>
          </a:prstGeom>
          <a:solidFill>
            <a:srgbClr val="F5FAF8"/>
          </a:solidFill>
          <a:ln w="12700">
            <a:solidFill>
              <a:srgbClr val="B9DDD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459736" y="1828800"/>
            <a:ext cx="12984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BUREAU_CHECKED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886200" y="2258568"/>
            <a:ext cx="228600" cy="0"/>
          </a:xfrm>
          <a:prstGeom prst="line">
            <a:avLst/>
          </a:prstGeom>
          <a:noFill/>
          <a:ln w="19050">
            <a:solidFill>
              <a:srgbClr val="5D7A73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114800" y="1828800"/>
            <a:ext cx="1554480" cy="868680"/>
          </a:xfrm>
          <a:prstGeom prst="roundRect">
            <a:avLst>
              <a:gd name="adj" fmla="val 12632"/>
            </a:avLst>
          </a:prstGeom>
          <a:solidFill>
            <a:srgbClr val="F5FAF8"/>
          </a:solidFill>
          <a:ln w="12700">
            <a:solidFill>
              <a:srgbClr val="B9DDD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242816" y="1828800"/>
            <a:ext cx="12984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AWAITING_CONSENT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669280" y="2258568"/>
            <a:ext cx="228600" cy="0"/>
          </a:xfrm>
          <a:prstGeom prst="line">
            <a:avLst/>
          </a:prstGeom>
          <a:noFill/>
          <a:ln w="19050">
            <a:solidFill>
              <a:srgbClr val="5D7A73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897880" y="1828800"/>
            <a:ext cx="1554480" cy="868680"/>
          </a:xfrm>
          <a:prstGeom prst="roundRect">
            <a:avLst>
              <a:gd name="adj" fmla="val 12632"/>
            </a:avLst>
          </a:prstGeom>
          <a:solidFill>
            <a:srgbClr val="F5FAF8"/>
          </a:solidFill>
          <a:ln w="12700">
            <a:solidFill>
              <a:srgbClr val="B9DDD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025896" y="1828800"/>
            <a:ext cx="12984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CONSENT_GRANTED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452360" y="2258568"/>
            <a:ext cx="228600" cy="0"/>
          </a:xfrm>
          <a:prstGeom prst="line">
            <a:avLst/>
          </a:prstGeom>
          <a:noFill/>
          <a:ln w="19050">
            <a:solidFill>
              <a:srgbClr val="5D7A73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7680960" y="1828800"/>
            <a:ext cx="1554480" cy="868680"/>
          </a:xfrm>
          <a:prstGeom prst="roundRect">
            <a:avLst>
              <a:gd name="adj" fmla="val 12632"/>
            </a:avLst>
          </a:prstGeom>
          <a:solidFill>
            <a:srgbClr val="F5FAF8"/>
          </a:solidFill>
          <a:ln w="12700">
            <a:solidFill>
              <a:srgbClr val="B9DDD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808976" y="1828800"/>
            <a:ext cx="12984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INGESTING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235440" y="2258568"/>
            <a:ext cx="228600" cy="0"/>
          </a:xfrm>
          <a:prstGeom prst="line">
            <a:avLst/>
          </a:prstGeom>
          <a:noFill/>
          <a:ln w="19050">
            <a:solidFill>
              <a:srgbClr val="5D7A73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9464040" y="1828800"/>
            <a:ext cx="1554480" cy="868680"/>
          </a:xfrm>
          <a:prstGeom prst="roundRect">
            <a:avLst>
              <a:gd name="adj" fmla="val 12632"/>
            </a:avLst>
          </a:prstGeom>
          <a:solidFill>
            <a:srgbClr val="0B6B61"/>
          </a:solidFill>
          <a:ln w="12700">
            <a:solidFill>
              <a:srgbClr val="B9DDD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592056" y="1828800"/>
            <a:ext cx="12984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SCORED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331720" y="3246120"/>
            <a:ext cx="1554480" cy="868680"/>
          </a:xfrm>
          <a:prstGeom prst="roundRect">
            <a:avLst>
              <a:gd name="adj" fmla="val 12632"/>
            </a:avLst>
          </a:prstGeom>
          <a:solidFill>
            <a:srgbClr val="E3F5EF"/>
          </a:solidFill>
          <a:ln w="12700">
            <a:solidFill>
              <a:srgbClr val="B9DDD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2459736" y="3246120"/>
            <a:ext cx="12984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0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BYPASSED_TO_LOS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0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bureau hit, no consent asked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108960" y="2697480"/>
            <a:ext cx="0" cy="548640"/>
          </a:xfrm>
          <a:prstGeom prst="line">
            <a:avLst/>
          </a:prstGeom>
          <a:noFill/>
          <a:ln w="19050">
            <a:solidFill>
              <a:srgbClr val="5D7A73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4114800" y="3246120"/>
            <a:ext cx="1554480" cy="868680"/>
          </a:xfrm>
          <a:prstGeom prst="roundRect">
            <a:avLst>
              <a:gd name="adj" fmla="val 12632"/>
            </a:avLst>
          </a:prstGeom>
          <a:solidFill>
            <a:srgbClr val="FDF1E4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242816" y="3246120"/>
            <a:ext cx="12984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0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CONSENT_DENIED or EXPIRED (15-minute link)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892040" y="2697480"/>
            <a:ext cx="0" cy="548640"/>
          </a:xfrm>
          <a:prstGeom prst="line">
            <a:avLst/>
          </a:prstGeom>
          <a:noFill/>
          <a:ln w="19050">
            <a:solidFill>
              <a:srgbClr val="5D7A73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9464040" y="3246120"/>
            <a:ext cx="2240280" cy="868680"/>
          </a:xfrm>
          <a:prstGeom prst="roundRect">
            <a:avLst>
              <a:gd name="adj" fmla="val 12632"/>
            </a:avLst>
          </a:prstGeom>
          <a:solidFill>
            <a:srgbClr val="E3F5EF"/>
          </a:solidFill>
          <a:ln w="12700">
            <a:solidFill>
              <a:srgbClr val="B9DDD3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9592056" y="3246120"/>
            <a:ext cx="19842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· CONDITIONAL · PLAN · REVIEW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0241280" y="2697480"/>
            <a:ext cx="0" cy="548640"/>
          </a:xfrm>
          <a:prstGeom prst="line">
            <a:avLst/>
          </a:prstGeom>
          <a:noFill/>
          <a:ln w="19050">
            <a:solidFill>
              <a:srgbClr val="5D7A73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548640" y="4572000"/>
            <a:ext cx="356616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B9DDD3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49808" y="4681728"/>
            <a:ext cx="3163824" cy="1289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0B6B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 · granular and signed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5D7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switches, stored as an HMAC-signed artifact valid for 182 days. Nothing granted means nothing read.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4297680" y="4572000"/>
            <a:ext cx="356616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B9DDD3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498848" y="4681728"/>
            <a:ext cx="3163824" cy="1289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0B6B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· checked every time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5D7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checks on each source call. Every attempt is logged, including sources the customer did not allow.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8046720" y="4572000"/>
            <a:ext cx="356616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B9DDD3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247888" y="4681728"/>
            <a:ext cx="3163824" cy="1289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0B6B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REVOKE · purge and block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5D7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features are deleted and further reads return 403. The audit record and consent history stay on file.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D7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Saksham Engine  ·  8 / 10  ·  Annex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0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Annex B · Validation on held-out data (synthetic)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15568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5D7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Discrimination holds across segments and when data sources are missing</a:t>
            </a:r>
            <a:endParaRPr lang="en-US" sz="1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783080"/>
          <a:ext cx="566928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0" y="1783080"/>
          <a:ext cx="5029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005840"/>
                <a:gridCol w="11887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slice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B9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6B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Rows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B9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6B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B9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6B6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23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Bank data missing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B9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23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B9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23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B9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23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Telecom data missing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B9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23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B9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23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0.835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B9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23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business records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B9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23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1,167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B9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23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0.802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B9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23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three sources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B9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23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1,229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B9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23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0.812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B9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6675120" y="3886200"/>
            <a:ext cx="5029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0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Calibration: predicted default rates track observed rates across 10 bands, from 0.8% to 45%.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0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at the 650 cutoff: 60.6% of test applicants.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0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Brier score 0.077 after calibration.</a:t>
            </a:r>
            <a:endParaRPr lang="en-US" sz="1400" dirty="0"/>
          </a:p>
        </p:txBody>
      </p:sp>
      <p:sp>
        <p:nvSpPr>
          <p:cNvPr id="7" name="Shape 3"/>
          <p:cNvSpPr/>
          <p:nvPr/>
        </p:nvSpPr>
        <p:spPr>
          <a:xfrm>
            <a:off x="548640" y="5440680"/>
            <a:ext cx="11155680" cy="822960"/>
          </a:xfrm>
          <a:prstGeom prst="roundRect">
            <a:avLst>
              <a:gd name="adj" fmla="val 13333"/>
            </a:avLst>
          </a:prstGeom>
          <a:solidFill>
            <a:srgbClr val="FDF1E4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676656" y="5440680"/>
            <a:ext cx="108996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0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this honestly: the training data is synthetic. These numbers show that the pipeline and model work. They are not real-world performance. Next: shadow mode on real repayment outcomes, out-of-time testing, and a fairness audit by segment and region.</a:t>
            </a:r>
            <a:endParaRPr lang="en-US" sz="130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D7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Saksham Engine  ·  9 / 10  ·  Annex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0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Annex C · Demo scenarios, build and next steps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15568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5D7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Thirteen personas cover every outcome path. Each one is asserted by an automated test.</a:t>
            </a:r>
            <a:endParaRPr lang="en-US" sz="1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694944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2011680"/>
                <a:gridCol w="2834640"/>
                <a:gridCol w="155448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B9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6B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Persona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B9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6B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shows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B9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6B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Outcome (score)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B9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6B6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23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B9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23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Ramesh Gupta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B9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23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data, merchant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B9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23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Approved (~767)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B9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23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B9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23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Sunil Yadav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B9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23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Gig rider, Hindi plan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B9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23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 (~551)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B9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23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B9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23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Mohan Patil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B9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23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Farmer, mandi settlements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B9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23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Approved (~783)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B9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23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B9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23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Sanjay Jadhav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B9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23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Struggling farmer, Marathi plan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B9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23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 (~325)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B9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23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B9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23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Vikram Singh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B9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23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Refuses consent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B9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23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Nothing read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B9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23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B9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23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Ramesh, AA outage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B9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23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Graceful degradation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B9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23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Approved (~740)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B9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23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B9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23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Ananya Iyer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B9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23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GST, bank and phone only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B9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23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Approved (~753)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B9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23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B9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23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Dinesh Kumar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B9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23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Borderline band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B9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23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Conditional (~621)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B9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23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B9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23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Kiran Reddy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B9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23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Two sources time out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B9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23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 review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B9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23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B9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23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Suresh Pawar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B9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23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Bureau score 590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B9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23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Routed to LOS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B9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863840" y="1783080"/>
            <a:ext cx="3840480" cy="2240280"/>
          </a:xfrm>
          <a:prstGeom prst="roundRect">
            <a:avLst>
              <a:gd name="adj" fmla="val 4898"/>
            </a:avLst>
          </a:prstGeom>
          <a:solidFill>
            <a:srgbClr val="F5FAF8"/>
          </a:solidFill>
          <a:ln w="12700">
            <a:solidFill>
              <a:srgbClr val="B9DDD3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092440" y="1920240"/>
            <a:ext cx="347472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0B6B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0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FastAPI, SQLAlchemy, LightGBM, SHAP, scikit-learn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0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19, Vite, Tailwind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0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Cloud API; Gemini with guardrails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0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110 automated tests, every persona end to end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7863840" y="4206240"/>
            <a:ext cx="3840480" cy="2057400"/>
          </a:xfrm>
          <a:prstGeom prst="roundRect">
            <a:avLst>
              <a:gd name="adj" fmla="val 5333"/>
            </a:avLst>
          </a:prstGeom>
          <a:solidFill>
            <a:srgbClr val="E3F5EF"/>
          </a:solidFill>
          <a:ln w="12700">
            <a:solidFill>
              <a:srgbClr val="E3F5E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092440" y="4343400"/>
            <a:ext cx="34747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0B6B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0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Account Aggregator sandbox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0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Shadow-mode scoring on live applications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0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Fairness panel by segment and region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0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PostgreSQL, authentication, dealer roles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D7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Saksham Engine  ·  10 / 10  ·  Annex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aksham Engine">
  <a:themeElements>
    <a:clrScheme name="Saksham Engine">
      <a:dk1>
        <a:srgbClr val="10231F"/>
      </a:dk1>
      <a:lt1>
        <a:srgbClr val="FFFFFF"/>
      </a:lt1>
      <a:dk2>
        <a:srgbClr val="0F3D3A"/>
      </a:dk2>
      <a:lt2>
        <a:srgbClr val="F5FAF8"/>
      </a:lt2>
      <a:accent1>
        <a:srgbClr val="0D9488"/>
      </a:accent1>
      <a:accent2>
        <a:srgbClr val="0B6B61"/>
      </a:accent2>
      <a:accent3>
        <a:srgbClr val="A3E2D1"/>
      </a:accent3>
      <a:accent4>
        <a:srgbClr val="5D7A73"/>
      </a:accent4>
      <a:accent5>
        <a:srgbClr val="B45309"/>
      </a:accent5>
      <a:accent6>
        <a:srgbClr val="5FD0BD"/>
      </a:accent6>
      <a:hlink>
        <a:srgbClr val="0B6B61"/>
      </a:hlink>
      <a:folHlink>
        <a:srgbClr val="5D7A73"/>
      </a:folHlink>
    </a:clrScheme>
    <a:fontScheme name="Saksham Engin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Saksham Engine</dc:title>
  <dc:subject>PptxGenJS Presentation</dc:subject>
  <dc:creator>PptxGenJS</dc:creator>
  <cp:lastModifiedBy>PptxGenJS</cp:lastModifiedBy>
  <cp:revision>1</cp:revision>
  <dcterms:created xsi:type="dcterms:W3CDTF">2026-10-03T16:45:51Z</dcterms:created>
  <dcterms:modified xsi:type="dcterms:W3CDTF">2026-10-03T16:45:51Z</dcterms:modified>
</cp:coreProperties>
</file>